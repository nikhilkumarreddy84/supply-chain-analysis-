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3018716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2027386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270105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2B9A29-F7D3-4175-9FD8-EF4EAC0D5BA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1340859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2B9A29-F7D3-4175-9FD8-EF4EAC0D5BA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593348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2B9A29-F7D3-4175-9FD8-EF4EAC0D5BA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2988741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2B9A29-F7D3-4175-9FD8-EF4EAC0D5BA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1814261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2B9A29-F7D3-4175-9FD8-EF4EAC0D5BA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3856456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2B9A29-F7D3-4175-9FD8-EF4EAC0D5BA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644975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1816228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66741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4269108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05545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722358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3618982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2B9A29-F7D3-4175-9FD8-EF4EAC0D5BA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499A3-D20B-42DB-9D09-22F1A4D0E3B0}" type="slidenum">
              <a:rPr lang="en-US" smtClean="0"/>
              <a:t>‹#›</a:t>
            </a:fld>
            <a:endParaRPr lang="en-US"/>
          </a:p>
        </p:txBody>
      </p:sp>
    </p:spTree>
    <p:extLst>
      <p:ext uri="{BB962C8B-B14F-4D97-AF65-F5344CB8AC3E}">
        <p14:creationId xmlns:p14="http://schemas.microsoft.com/office/powerpoint/2010/main" val="937211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52B9A29-F7D3-4175-9FD8-EF4EAC0D5BA4}" type="datetimeFigureOut">
              <a:rPr lang="en-US" smtClean="0"/>
              <a:t>6/17/2026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9A499A3-D20B-42DB-9D09-22F1A4D0E3B0}" type="slidenum">
              <a:rPr lang="en-US" smtClean="0"/>
              <a:t>‹#›</a:t>
            </a:fld>
            <a:endParaRPr lang="en-US"/>
          </a:p>
        </p:txBody>
      </p:sp>
    </p:spTree>
    <p:extLst>
      <p:ext uri="{BB962C8B-B14F-4D97-AF65-F5344CB8AC3E}">
        <p14:creationId xmlns:p14="http://schemas.microsoft.com/office/powerpoint/2010/main" val="245690011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nikhilkumarreddy1354@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2C35-242C-ABF9-9B74-C40BB316DD97}"/>
              </a:ext>
            </a:extLst>
          </p:cNvPr>
          <p:cNvSpPr>
            <a:spLocks noGrp="1"/>
          </p:cNvSpPr>
          <p:nvPr>
            <p:ph type="ctrTitle"/>
          </p:nvPr>
        </p:nvSpPr>
        <p:spPr>
          <a:xfrm>
            <a:off x="500333" y="77638"/>
            <a:ext cx="9023230" cy="1096899"/>
          </a:xfrm>
        </p:spPr>
        <p:txBody>
          <a:bodyPr/>
          <a:lstStyle/>
          <a:p>
            <a:r>
              <a:rPr lang="en-US" sz="4400" dirty="0"/>
              <a:t>Supply Chain Performance Analysis</a:t>
            </a:r>
          </a:p>
        </p:txBody>
      </p:sp>
      <p:sp>
        <p:nvSpPr>
          <p:cNvPr id="3" name="Subtitle 2">
            <a:extLst>
              <a:ext uri="{FF2B5EF4-FFF2-40B4-BE49-F238E27FC236}">
                <a16:creationId xmlns:a16="http://schemas.microsoft.com/office/drawing/2014/main" id="{74FD52B4-7EE2-2F2E-CC04-EE9E726BFC13}"/>
              </a:ext>
            </a:extLst>
          </p:cNvPr>
          <p:cNvSpPr>
            <a:spLocks noGrp="1"/>
          </p:cNvSpPr>
          <p:nvPr>
            <p:ph type="subTitle" idx="1"/>
          </p:nvPr>
        </p:nvSpPr>
        <p:spPr>
          <a:xfrm>
            <a:off x="2493034" y="1174538"/>
            <a:ext cx="6780969" cy="895802"/>
          </a:xfrm>
        </p:spPr>
        <p:txBody>
          <a:bodyPr>
            <a:noAutofit/>
          </a:bodyPr>
          <a:lstStyle/>
          <a:p>
            <a:r>
              <a:rPr lang="en-US" sz="2000" dirty="0"/>
              <a:t>“</a:t>
            </a:r>
            <a:r>
              <a:rPr lang="en-US" sz="2000" dirty="0">
                <a:solidFill>
                  <a:schemeClr val="tx1"/>
                </a:solidFill>
              </a:rPr>
              <a:t>A Comprehensive Dashboard‑Based Evaluation of Supply Chain Performance”</a:t>
            </a:r>
          </a:p>
        </p:txBody>
      </p:sp>
      <p:sp>
        <p:nvSpPr>
          <p:cNvPr id="5" name="TextBox 4">
            <a:extLst>
              <a:ext uri="{FF2B5EF4-FFF2-40B4-BE49-F238E27FC236}">
                <a16:creationId xmlns:a16="http://schemas.microsoft.com/office/drawing/2014/main" id="{544F009A-6E14-4821-DB4B-EAEC85F68C49}"/>
              </a:ext>
            </a:extLst>
          </p:cNvPr>
          <p:cNvSpPr txBox="1"/>
          <p:nvPr/>
        </p:nvSpPr>
        <p:spPr>
          <a:xfrm>
            <a:off x="603849" y="4891177"/>
            <a:ext cx="3968151" cy="1200329"/>
          </a:xfrm>
          <a:prstGeom prst="rect">
            <a:avLst/>
          </a:prstGeom>
          <a:noFill/>
        </p:spPr>
        <p:txBody>
          <a:bodyPr wrap="square" rtlCol="0">
            <a:spAutoFit/>
          </a:bodyPr>
          <a:lstStyle/>
          <a:p>
            <a:r>
              <a:rPr lang="en-US" dirty="0"/>
              <a:t>Presented By </a:t>
            </a:r>
          </a:p>
          <a:p>
            <a:r>
              <a:rPr lang="en-US" dirty="0"/>
              <a:t>Nikhil Kumar Reddy</a:t>
            </a:r>
          </a:p>
          <a:p>
            <a:r>
              <a:rPr lang="en-US" dirty="0">
                <a:hlinkClick r:id="rId2"/>
              </a:rPr>
              <a:t>nikhilkumarreddy1354@gmail.com</a:t>
            </a:r>
            <a:endParaRPr lang="en-US" dirty="0"/>
          </a:p>
          <a:p>
            <a:r>
              <a:rPr lang="en-US" dirty="0"/>
              <a:t>CDA 10</a:t>
            </a:r>
            <a:r>
              <a:rPr lang="en-US" baseline="30000" dirty="0"/>
              <a:t>th</a:t>
            </a:r>
            <a:r>
              <a:rPr lang="en-US" dirty="0"/>
              <a:t> Nov Batch </a:t>
            </a:r>
          </a:p>
        </p:txBody>
      </p:sp>
      <p:pic>
        <p:nvPicPr>
          <p:cNvPr id="7" name="Picture 6">
            <a:extLst>
              <a:ext uri="{FF2B5EF4-FFF2-40B4-BE49-F238E27FC236}">
                <a16:creationId xmlns:a16="http://schemas.microsoft.com/office/drawing/2014/main" id="{5CD53DB4-F00C-8F57-A17D-DB6EE4A33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0028" y="2463470"/>
            <a:ext cx="4373590" cy="2337758"/>
          </a:xfrm>
          <a:prstGeom prst="rect">
            <a:avLst/>
          </a:prstGeom>
        </p:spPr>
      </p:pic>
    </p:spTree>
    <p:extLst>
      <p:ext uri="{BB962C8B-B14F-4D97-AF65-F5344CB8AC3E}">
        <p14:creationId xmlns:p14="http://schemas.microsoft.com/office/powerpoint/2010/main" val="1376296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E6896-5113-0DAD-CA31-E354DD510CEC}"/>
              </a:ext>
            </a:extLst>
          </p:cNvPr>
          <p:cNvSpPr>
            <a:spLocks noGrp="1"/>
          </p:cNvSpPr>
          <p:nvPr>
            <p:ph type="title"/>
          </p:nvPr>
        </p:nvSpPr>
        <p:spPr>
          <a:xfrm>
            <a:off x="677334" y="609600"/>
            <a:ext cx="8596668" cy="805132"/>
          </a:xfrm>
        </p:spPr>
        <p:txBody>
          <a:bodyPr/>
          <a:lstStyle/>
          <a:p>
            <a:r>
              <a:rPr lang="en-US" u="sng" dirty="0"/>
              <a:t>Project Overview</a:t>
            </a:r>
          </a:p>
        </p:txBody>
      </p:sp>
      <p:sp>
        <p:nvSpPr>
          <p:cNvPr id="3" name="Content Placeholder 2">
            <a:extLst>
              <a:ext uri="{FF2B5EF4-FFF2-40B4-BE49-F238E27FC236}">
                <a16:creationId xmlns:a16="http://schemas.microsoft.com/office/drawing/2014/main" id="{7ED5A939-176A-8530-850A-63138E5A83E9}"/>
              </a:ext>
            </a:extLst>
          </p:cNvPr>
          <p:cNvSpPr>
            <a:spLocks noGrp="1"/>
          </p:cNvSpPr>
          <p:nvPr>
            <p:ph idx="1"/>
          </p:nvPr>
        </p:nvSpPr>
        <p:spPr>
          <a:xfrm>
            <a:off x="776377" y="1837426"/>
            <a:ext cx="7781027" cy="3830129"/>
          </a:xfrm>
        </p:spPr>
        <p:txBody>
          <a:bodyPr/>
          <a:lstStyle/>
          <a:p>
            <a:r>
              <a:rPr lang="en-US" dirty="0"/>
              <a:t>The </a:t>
            </a:r>
            <a:r>
              <a:rPr lang="en-US" b="1" dirty="0"/>
              <a:t>Supply Chain Analysis Project</a:t>
            </a:r>
            <a:r>
              <a:rPr lang="en-US" dirty="0"/>
              <a:t> focuses on evaluating the efficiency and performance of key supply chain components — including </a:t>
            </a:r>
            <a:r>
              <a:rPr lang="en-US" b="1" dirty="0"/>
              <a:t>procurement, inventory, manufacturing, logistics, and customer fulfillment</a:t>
            </a:r>
          </a:p>
          <a:p>
            <a:pPr marL="0" indent="0">
              <a:buNone/>
            </a:pPr>
            <a:endParaRPr lang="en-US" b="1" dirty="0"/>
          </a:p>
          <a:p>
            <a:pPr>
              <a:buFont typeface="Arial" panose="020B0604020202020204" pitchFamily="34" charset="0"/>
              <a:buChar char="•"/>
            </a:pPr>
            <a:r>
              <a:rPr lang="en-US" dirty="0">
                <a:effectLst/>
              </a:rPr>
              <a:t>Improve supplier reliability and cost efficiency</a:t>
            </a:r>
            <a:endParaRPr lang="en-US" dirty="0"/>
          </a:p>
          <a:p>
            <a:pPr>
              <a:buFont typeface="Arial" panose="020B0604020202020204" pitchFamily="34" charset="0"/>
              <a:buChar char="•"/>
            </a:pPr>
            <a:r>
              <a:rPr lang="en-US" dirty="0">
                <a:effectLst/>
              </a:rPr>
              <a:t>Optimize inventory levels and reduce stockouts</a:t>
            </a:r>
            <a:endParaRPr lang="en-US" dirty="0"/>
          </a:p>
          <a:p>
            <a:pPr>
              <a:buFont typeface="Arial" panose="020B0604020202020204" pitchFamily="34" charset="0"/>
              <a:buChar char="•"/>
            </a:pPr>
            <a:r>
              <a:rPr lang="en-US" dirty="0">
                <a:effectLst/>
              </a:rPr>
              <a:t>Streamline logistics and delivery performance</a:t>
            </a:r>
            <a:endParaRPr lang="en-US" dirty="0"/>
          </a:p>
          <a:p>
            <a:pPr>
              <a:buFont typeface="Arial" panose="020B0604020202020204" pitchFamily="34" charset="0"/>
              <a:buChar char="•"/>
            </a:pPr>
            <a:r>
              <a:rPr lang="en-US" dirty="0">
                <a:effectLst/>
              </a:rPr>
              <a:t>Enhance customer satisfaction and operational transparency</a:t>
            </a:r>
            <a:endParaRPr lang="en-US" dirty="0"/>
          </a:p>
          <a:p>
            <a:endParaRPr lang="en-US" dirty="0"/>
          </a:p>
        </p:txBody>
      </p:sp>
    </p:spTree>
    <p:extLst>
      <p:ext uri="{BB962C8B-B14F-4D97-AF65-F5344CB8AC3E}">
        <p14:creationId xmlns:p14="http://schemas.microsoft.com/office/powerpoint/2010/main" val="3080484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20E31-F112-EA3C-747E-79D32E5F29CC}"/>
              </a:ext>
            </a:extLst>
          </p:cNvPr>
          <p:cNvSpPr>
            <a:spLocks noGrp="1"/>
          </p:cNvSpPr>
          <p:nvPr>
            <p:ph type="title"/>
          </p:nvPr>
        </p:nvSpPr>
        <p:spPr>
          <a:xfrm>
            <a:off x="677334" y="609600"/>
            <a:ext cx="8596668" cy="770626"/>
          </a:xfrm>
        </p:spPr>
        <p:txBody>
          <a:bodyPr/>
          <a:lstStyle/>
          <a:p>
            <a:r>
              <a:rPr lang="en-US" u="sng" dirty="0"/>
              <a:t>Objectives Of Project </a:t>
            </a:r>
          </a:p>
        </p:txBody>
      </p:sp>
      <p:sp>
        <p:nvSpPr>
          <p:cNvPr id="4" name="Rectangle 1">
            <a:extLst>
              <a:ext uri="{FF2B5EF4-FFF2-40B4-BE49-F238E27FC236}">
                <a16:creationId xmlns:a16="http://schemas.microsoft.com/office/drawing/2014/main" id="{AE7FC9FD-BAA2-0EB2-6367-283E6019301B}"/>
              </a:ext>
            </a:extLst>
          </p:cNvPr>
          <p:cNvSpPr>
            <a:spLocks noGrp="1" noChangeArrowheads="1"/>
          </p:cNvSpPr>
          <p:nvPr>
            <p:ph idx="1"/>
          </p:nvPr>
        </p:nvSpPr>
        <p:spPr bwMode="auto">
          <a:xfrm>
            <a:off x="396875" y="1411754"/>
            <a:ext cx="859666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Evaluate Supplier Performance: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Analyze supplier efficiency through metrics like </a:t>
            </a:r>
            <a:r>
              <a:rPr kumimoji="0" lang="en-US" altLang="en-US" sz="1800" b="0" i="1" u="none" strike="noStrike" cap="none" normalizeH="0" baseline="0" dirty="0">
                <a:ln>
                  <a:noFill/>
                </a:ln>
                <a:solidFill>
                  <a:schemeClr val="tx1"/>
                </a:solidFill>
                <a:effectLst/>
                <a:latin typeface="Arial" panose="020B0604020202020204" pitchFamily="34" charset="0"/>
              </a:rPr>
              <a:t>lead time, defect rate, cost per unit,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1" u="none" strike="noStrike" cap="none" normalizeH="0" baseline="0" dirty="0">
                <a:ln>
                  <a:noFill/>
                </a:ln>
                <a:solidFill>
                  <a:schemeClr val="tx1"/>
                </a:solidFill>
                <a:effectLst/>
                <a:latin typeface="Arial" panose="020B0604020202020204" pitchFamily="34" charset="0"/>
              </a:rPr>
              <a:t>manufacturing cost</a:t>
            </a:r>
            <a:r>
              <a:rPr kumimoji="0" lang="en-US" altLang="en-US" sz="1800" b="0" i="0" u="none" strike="noStrike" cap="none" normalizeH="0" baseline="0" dirty="0">
                <a:ln>
                  <a:noFill/>
                </a:ln>
                <a:solidFill>
                  <a:schemeClr val="tx1"/>
                </a:solidFill>
                <a:effectLst/>
                <a:latin typeface="Arial" panose="020B0604020202020204" pitchFamily="34" charset="0"/>
              </a:rPr>
              <a:t> to identify reliable and cost‑effective suppliers.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Optimize Inventory Management: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Monitor </a:t>
            </a:r>
            <a:r>
              <a:rPr kumimoji="0" lang="en-US" altLang="en-US" sz="1800" b="0" i="1" u="none" strike="noStrike" cap="none" normalizeH="0" baseline="0" dirty="0">
                <a:ln>
                  <a:noFill/>
                </a:ln>
                <a:solidFill>
                  <a:schemeClr val="tx1"/>
                </a:solidFill>
                <a:effectLst/>
                <a:latin typeface="Arial" panose="020B0604020202020204" pitchFamily="34" charset="0"/>
              </a:rPr>
              <a:t>stock levels, order quantities,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1" u="none" strike="noStrike" cap="none" normalizeH="0" baseline="0" dirty="0">
                <a:ln>
                  <a:noFill/>
                </a:ln>
                <a:solidFill>
                  <a:schemeClr val="tx1"/>
                </a:solidFill>
                <a:effectLst/>
                <a:latin typeface="Arial" panose="020B0604020202020204" pitchFamily="34" charset="0"/>
              </a:rPr>
              <a:t>availability</a:t>
            </a:r>
            <a:r>
              <a:rPr kumimoji="0" lang="en-US" altLang="en-US" sz="1800" b="0" i="0" u="none" strike="noStrike" cap="none" normalizeH="0" baseline="0" dirty="0">
                <a:ln>
                  <a:noFill/>
                </a:ln>
                <a:solidFill>
                  <a:schemeClr val="tx1"/>
                </a:solidFill>
                <a:effectLst/>
                <a:latin typeface="Arial" panose="020B0604020202020204" pitchFamily="34" charset="0"/>
              </a:rPr>
              <a:t> to maintain balanced inventory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and reduce stockouts or overstocking.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Enhance Manufacturing Efficiency: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Assess </a:t>
            </a:r>
            <a:r>
              <a:rPr kumimoji="0" lang="en-US" altLang="en-US" sz="1800" b="0" i="1" u="none" strike="noStrike" cap="none" normalizeH="0" baseline="0" dirty="0">
                <a:ln>
                  <a:noFill/>
                </a:ln>
                <a:solidFill>
                  <a:schemeClr val="tx1"/>
                </a:solidFill>
                <a:effectLst/>
                <a:latin typeface="Arial" panose="020B0604020202020204" pitchFamily="34" charset="0"/>
              </a:rPr>
              <a:t>production volumes, defect rates,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1" u="none" strike="noStrike" cap="none" normalizeH="0" baseline="0" dirty="0">
                <a:ln>
                  <a:noFill/>
                </a:ln>
                <a:solidFill>
                  <a:schemeClr val="tx1"/>
                </a:solidFill>
                <a:effectLst/>
                <a:latin typeface="Arial" panose="020B0604020202020204" pitchFamily="34" charset="0"/>
              </a:rPr>
              <a:t>lead times</a:t>
            </a:r>
            <a:r>
              <a:rPr kumimoji="0" lang="en-US" altLang="en-US" sz="1800" b="0" i="0" u="none" strike="noStrike" cap="none" normalizeH="0" baseline="0" dirty="0">
                <a:ln>
                  <a:noFill/>
                </a:ln>
                <a:solidFill>
                  <a:schemeClr val="tx1"/>
                </a:solidFill>
                <a:effectLst/>
                <a:latin typeface="Arial" panose="020B0604020202020204" pitchFamily="34" charset="0"/>
              </a:rPr>
              <a:t> to improve production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and minimize operational delays</a:t>
            </a:r>
          </a:p>
        </p:txBody>
      </p:sp>
    </p:spTree>
    <p:extLst>
      <p:ext uri="{BB962C8B-B14F-4D97-AF65-F5344CB8AC3E}">
        <p14:creationId xmlns:p14="http://schemas.microsoft.com/office/powerpoint/2010/main" val="3229701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C9274B-AE1C-3E81-4167-D82534854AAE}"/>
              </a:ext>
            </a:extLst>
          </p:cNvPr>
          <p:cNvSpPr>
            <a:spLocks noChangeArrowheads="1"/>
          </p:cNvSpPr>
          <p:nvPr/>
        </p:nvSpPr>
        <p:spPr bwMode="auto">
          <a:xfrm>
            <a:off x="733244" y="1355832"/>
            <a:ext cx="860916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 Logistics and Transportation: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Examine </a:t>
            </a:r>
            <a:r>
              <a:rPr kumimoji="0" lang="en-US" altLang="en-US" sz="1800" b="0" i="1" u="none" strike="noStrike" cap="none" normalizeH="0" baseline="0" dirty="0">
                <a:ln>
                  <a:noFill/>
                </a:ln>
                <a:solidFill>
                  <a:schemeClr val="tx1"/>
                </a:solidFill>
                <a:effectLst/>
                <a:latin typeface="Arial" panose="020B0604020202020204" pitchFamily="34" charset="0"/>
              </a:rPr>
              <a:t>shipping cost, time,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1" u="none" strike="noStrike" cap="none" normalizeH="0" baseline="0" dirty="0">
                <a:ln>
                  <a:noFill/>
                </a:ln>
                <a:solidFill>
                  <a:schemeClr val="tx1"/>
                </a:solidFill>
                <a:effectLst/>
                <a:latin typeface="Arial" panose="020B0604020202020204" pitchFamily="34" charset="0"/>
              </a:rPr>
              <a:t>transportation modes</a:t>
            </a:r>
            <a:r>
              <a:rPr kumimoji="0" lang="en-US" altLang="en-US" sz="1800" b="0" i="0" u="none" strike="noStrike" cap="none" normalizeH="0" baseline="0" dirty="0">
                <a:ln>
                  <a:noFill/>
                </a:ln>
                <a:solidFill>
                  <a:schemeClr val="tx1"/>
                </a:solidFill>
                <a:effectLst/>
                <a:latin typeface="Arial" panose="020B0604020202020204" pitchFamily="34" charset="0"/>
              </a:rPr>
              <a:t> to streamline delivery routes and reduce logistics expenses.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Maximize Revenue and Profitability: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Track </a:t>
            </a:r>
            <a:r>
              <a:rPr kumimoji="0" lang="en-US" altLang="en-US" sz="1800" b="0" i="1" u="none" strike="noStrike" cap="none" normalizeH="0" baseline="0" dirty="0">
                <a:ln>
                  <a:noFill/>
                </a:ln>
                <a:solidFill>
                  <a:schemeClr val="tx1"/>
                </a:solidFill>
                <a:effectLst/>
                <a:latin typeface="Arial" panose="020B0604020202020204" pitchFamily="34" charset="0"/>
              </a:rPr>
              <a:t>total revenue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1" u="none" strike="noStrike" cap="none" normalizeH="0" baseline="0" dirty="0">
                <a:ln>
                  <a:noFill/>
                </a:ln>
                <a:solidFill>
                  <a:schemeClr val="tx1"/>
                </a:solidFill>
                <a:effectLst/>
                <a:latin typeface="Arial" panose="020B0604020202020204" pitchFamily="34" charset="0"/>
              </a:rPr>
              <a:t>cost distribution</a:t>
            </a:r>
            <a:r>
              <a:rPr kumimoji="0" lang="en-US" altLang="en-US" sz="1800" b="0" i="0" u="none" strike="noStrike" cap="none" normalizeH="0" baseline="0" dirty="0">
                <a:ln>
                  <a:noFill/>
                </a:ln>
                <a:solidFill>
                  <a:schemeClr val="tx1"/>
                </a:solidFill>
                <a:effectLst/>
                <a:latin typeface="Arial" panose="020B0604020202020204" pitchFamily="34" charset="0"/>
              </a:rPr>
              <a:t> across routes, suppliers, and product types to identify high‑performing areas and optimize resource allocation.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Enable Data‑Driven Decision Making:</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Use interactive dashboards (Power BI) to visualize KPIs and support strategic decisions across procurement, inventory, manufacturing, and logistics.</a:t>
            </a:r>
          </a:p>
        </p:txBody>
      </p:sp>
    </p:spTree>
    <p:extLst>
      <p:ext uri="{BB962C8B-B14F-4D97-AF65-F5344CB8AC3E}">
        <p14:creationId xmlns:p14="http://schemas.microsoft.com/office/powerpoint/2010/main" val="2837450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E8401-2CBC-1CA7-D5D1-CDA61F6A5FB4}"/>
              </a:ext>
            </a:extLst>
          </p:cNvPr>
          <p:cNvSpPr>
            <a:spLocks noGrp="1"/>
          </p:cNvSpPr>
          <p:nvPr>
            <p:ph type="title"/>
          </p:nvPr>
        </p:nvSpPr>
        <p:spPr>
          <a:xfrm>
            <a:off x="677334" y="609600"/>
            <a:ext cx="8596668" cy="831011"/>
          </a:xfrm>
        </p:spPr>
        <p:txBody>
          <a:bodyPr/>
          <a:lstStyle/>
          <a:p>
            <a:r>
              <a:rPr lang="en-US" u="sng" dirty="0"/>
              <a:t>About Dataset </a:t>
            </a:r>
          </a:p>
        </p:txBody>
      </p:sp>
      <p:sp>
        <p:nvSpPr>
          <p:cNvPr id="3" name="Content Placeholder 2">
            <a:extLst>
              <a:ext uri="{FF2B5EF4-FFF2-40B4-BE49-F238E27FC236}">
                <a16:creationId xmlns:a16="http://schemas.microsoft.com/office/drawing/2014/main" id="{DB1E959F-E92F-53C4-EF20-BE7412A97076}"/>
              </a:ext>
            </a:extLst>
          </p:cNvPr>
          <p:cNvSpPr>
            <a:spLocks noGrp="1"/>
          </p:cNvSpPr>
          <p:nvPr>
            <p:ph idx="1"/>
          </p:nvPr>
        </p:nvSpPr>
        <p:spPr>
          <a:xfrm>
            <a:off x="586596" y="1854679"/>
            <a:ext cx="8143337" cy="3821502"/>
          </a:xfrm>
        </p:spPr>
        <p:txBody>
          <a:bodyPr/>
          <a:lstStyle/>
          <a:p>
            <a:r>
              <a:rPr lang="en-US" dirty="0"/>
              <a:t>The dataset provides a </a:t>
            </a:r>
            <a:r>
              <a:rPr lang="en-US" b="1" dirty="0"/>
              <a:t>comprehensive view of a company’s supply chain operations</a:t>
            </a:r>
            <a:r>
              <a:rPr lang="en-US" dirty="0"/>
              <a:t>, covering every stage from procurement to customer delivery. It integrates multiple dimensions of business performance, enabling end‑to‑end analysis and optimization.</a:t>
            </a:r>
          </a:p>
          <a:p>
            <a:endParaRPr lang="en-US" dirty="0"/>
          </a:p>
          <a:p>
            <a:r>
              <a:rPr lang="en-US" dirty="0"/>
              <a:t>This dataset helps analyze </a:t>
            </a:r>
            <a:r>
              <a:rPr lang="en-US" b="1" dirty="0"/>
              <a:t>supplier performance, inventory efficiency, manufacturing productivity, and logistics optimization</a:t>
            </a:r>
            <a:r>
              <a:rPr lang="en-US" dirty="0"/>
              <a:t>, providing actionable insights to improve overall supply chain effectiveness and profitability.</a:t>
            </a:r>
          </a:p>
        </p:txBody>
      </p:sp>
    </p:spTree>
    <p:extLst>
      <p:ext uri="{BB962C8B-B14F-4D97-AF65-F5344CB8AC3E}">
        <p14:creationId xmlns:p14="http://schemas.microsoft.com/office/powerpoint/2010/main" val="2949081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C113-8AE9-4781-DA92-2EDA68DEBF0D}"/>
              </a:ext>
            </a:extLst>
          </p:cNvPr>
          <p:cNvSpPr>
            <a:spLocks noGrp="1"/>
          </p:cNvSpPr>
          <p:nvPr>
            <p:ph type="title"/>
          </p:nvPr>
        </p:nvSpPr>
        <p:spPr>
          <a:xfrm>
            <a:off x="677334" y="609600"/>
            <a:ext cx="8596668" cy="805132"/>
          </a:xfrm>
        </p:spPr>
        <p:txBody>
          <a:bodyPr/>
          <a:lstStyle/>
          <a:p>
            <a:r>
              <a:rPr lang="en-US" u="sng" dirty="0"/>
              <a:t>Tools and Technologies used</a:t>
            </a:r>
          </a:p>
        </p:txBody>
      </p:sp>
      <p:sp>
        <p:nvSpPr>
          <p:cNvPr id="4" name="Rectangle 1">
            <a:extLst>
              <a:ext uri="{FF2B5EF4-FFF2-40B4-BE49-F238E27FC236}">
                <a16:creationId xmlns:a16="http://schemas.microsoft.com/office/drawing/2014/main" id="{9587B05B-BBFB-A64F-2186-F2A0AA1EFB29}"/>
              </a:ext>
            </a:extLst>
          </p:cNvPr>
          <p:cNvSpPr>
            <a:spLocks noGrp="1" noChangeArrowheads="1"/>
          </p:cNvSpPr>
          <p:nvPr>
            <p:ph idx="1"/>
          </p:nvPr>
        </p:nvSpPr>
        <p:spPr bwMode="auto">
          <a:xfrm>
            <a:off x="1069675" y="2242348"/>
            <a:ext cx="743597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Power BI</a:t>
            </a:r>
            <a:r>
              <a:rPr kumimoji="0" lang="en-US" altLang="en-US" sz="1800" b="0" i="0" u="none" strike="noStrike" cap="none" normalizeH="0" baseline="0" dirty="0">
                <a:ln>
                  <a:noFill/>
                </a:ln>
                <a:solidFill>
                  <a:schemeClr val="tx1"/>
                </a:solidFill>
                <a:effectLst/>
                <a:latin typeface="Arial" panose="020B0604020202020204" pitchFamily="34" charset="0"/>
              </a:rPr>
              <a:t> – Interactive dashboards &amp; KPI visualization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SQL</a:t>
            </a:r>
            <a:r>
              <a:rPr kumimoji="0" lang="en-US" altLang="en-US" sz="1800" b="0" i="0" u="none" strike="noStrike" cap="none" normalizeH="0" baseline="0" dirty="0">
                <a:ln>
                  <a:noFill/>
                </a:ln>
                <a:solidFill>
                  <a:schemeClr val="tx1"/>
                </a:solidFill>
                <a:effectLst/>
                <a:latin typeface="Arial" panose="020B0604020202020204" pitchFamily="34" charset="0"/>
              </a:rPr>
              <a:t> – Querying, cleaning, and managing structured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Excel</a:t>
            </a:r>
            <a:r>
              <a:rPr kumimoji="0" lang="en-US" altLang="en-US" sz="1800" b="0" i="0" u="none" strike="noStrike" cap="none" normalizeH="0" baseline="0" dirty="0">
                <a:ln>
                  <a:noFill/>
                </a:ln>
                <a:solidFill>
                  <a:schemeClr val="tx1"/>
                </a:solidFill>
                <a:effectLst/>
                <a:latin typeface="Arial" panose="020B0604020202020204" pitchFamily="34" charset="0"/>
              </a:rPr>
              <a:t> – Preprocessing, calculations, and quick analysis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 Advanced analytics, automation, and modeling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ETL Processes</a:t>
            </a:r>
            <a:r>
              <a:rPr kumimoji="0" lang="en-US" altLang="en-US" sz="1800" b="0" i="0" u="none" strike="noStrike" cap="none" normalizeH="0" baseline="0" dirty="0">
                <a:ln>
                  <a:noFill/>
                </a:ln>
                <a:solidFill>
                  <a:schemeClr val="tx1"/>
                </a:solidFill>
                <a:effectLst/>
                <a:latin typeface="Arial" panose="020B0604020202020204" pitchFamily="34" charset="0"/>
              </a:rPr>
              <a:t> – Data extraction, transformation, and loading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Data Visualization</a:t>
            </a:r>
            <a:r>
              <a:rPr kumimoji="0" lang="en-US" altLang="en-US" sz="1800" b="0" i="0" u="none" strike="noStrike" cap="none" normalizeH="0" baseline="0" dirty="0">
                <a:ln>
                  <a:noFill/>
                </a:ln>
                <a:solidFill>
                  <a:schemeClr val="tx1"/>
                </a:solidFill>
                <a:effectLst/>
                <a:latin typeface="Arial" panose="020B0604020202020204" pitchFamily="34" charset="0"/>
              </a:rPr>
              <a:t> – Charts, graphs, and maps for insights</a:t>
            </a:r>
          </a:p>
        </p:txBody>
      </p:sp>
    </p:spTree>
    <p:extLst>
      <p:ext uri="{BB962C8B-B14F-4D97-AF65-F5344CB8AC3E}">
        <p14:creationId xmlns:p14="http://schemas.microsoft.com/office/powerpoint/2010/main" val="1429562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029FBE-0F8D-F5D0-00BF-3E23DF37E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220" y="491706"/>
            <a:ext cx="8208365" cy="5175849"/>
          </a:xfrm>
          <a:prstGeom prst="rect">
            <a:avLst/>
          </a:prstGeom>
        </p:spPr>
      </p:pic>
    </p:spTree>
    <p:extLst>
      <p:ext uri="{BB962C8B-B14F-4D97-AF65-F5344CB8AC3E}">
        <p14:creationId xmlns:p14="http://schemas.microsoft.com/office/powerpoint/2010/main" val="1043528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7F316C-3E70-5D25-44B8-1BC2D1E84536}"/>
              </a:ext>
            </a:extLst>
          </p:cNvPr>
          <p:cNvSpPr txBox="1"/>
          <p:nvPr/>
        </p:nvSpPr>
        <p:spPr>
          <a:xfrm>
            <a:off x="940280" y="448574"/>
            <a:ext cx="1233578" cy="400110"/>
          </a:xfrm>
          <a:prstGeom prst="rect">
            <a:avLst/>
          </a:prstGeom>
          <a:noFill/>
        </p:spPr>
        <p:txBody>
          <a:bodyPr wrap="square" rtlCol="0">
            <a:spAutoFit/>
          </a:bodyPr>
          <a:lstStyle/>
          <a:p>
            <a:r>
              <a:rPr lang="en-US" sz="2000" b="1" u="sng" dirty="0">
                <a:solidFill>
                  <a:schemeClr val="accent5">
                    <a:lumMod val="75000"/>
                  </a:schemeClr>
                </a:solidFill>
              </a:rPr>
              <a:t>KPIs</a:t>
            </a:r>
          </a:p>
        </p:txBody>
      </p:sp>
      <p:sp>
        <p:nvSpPr>
          <p:cNvPr id="4" name="Rectangle 1">
            <a:extLst>
              <a:ext uri="{FF2B5EF4-FFF2-40B4-BE49-F238E27FC236}">
                <a16:creationId xmlns:a16="http://schemas.microsoft.com/office/drawing/2014/main" id="{25EF6302-AABE-6127-4BAE-29FCFCBF0175}"/>
              </a:ext>
            </a:extLst>
          </p:cNvPr>
          <p:cNvSpPr>
            <a:spLocks noChangeArrowheads="1"/>
          </p:cNvSpPr>
          <p:nvPr/>
        </p:nvSpPr>
        <p:spPr bwMode="auto">
          <a:xfrm>
            <a:off x="638355" y="1079472"/>
            <a:ext cx="524486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Revenue:</a:t>
            </a:r>
            <a:r>
              <a:rPr kumimoji="0" lang="en-US" altLang="en-US" sz="1800" b="0" i="0" u="none" strike="noStrike" cap="none" normalizeH="0" baseline="0" dirty="0">
                <a:ln>
                  <a:noFill/>
                </a:ln>
                <a:solidFill>
                  <a:schemeClr val="tx1"/>
                </a:solidFill>
                <a:effectLst/>
                <a:latin typeface="Arial" panose="020B0604020202020204" pitchFamily="34" charset="0"/>
              </a:rPr>
              <a:t> ₹577.60K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Products Sold:</a:t>
            </a:r>
            <a:r>
              <a:rPr kumimoji="0" lang="en-US" altLang="en-US" sz="1800" b="0" i="0" u="none" strike="noStrike" cap="none" normalizeH="0" baseline="0" dirty="0">
                <a:ln>
                  <a:noFill/>
                </a:ln>
                <a:solidFill>
                  <a:schemeClr val="tx1"/>
                </a:solidFill>
                <a:effectLst/>
                <a:latin typeface="Arial" panose="020B0604020202020204" pitchFamily="34" charset="0"/>
              </a:rPr>
              <a:t> 46K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Manufacturing Cost:</a:t>
            </a:r>
            <a:r>
              <a:rPr kumimoji="0" lang="en-US" altLang="en-US" sz="1800" b="0" i="0" u="none" strike="noStrike" cap="none" normalizeH="0" baseline="0" dirty="0">
                <a:ln>
                  <a:noFill/>
                </a:ln>
                <a:solidFill>
                  <a:schemeClr val="tx1"/>
                </a:solidFill>
                <a:effectLst/>
                <a:latin typeface="Arial" panose="020B0604020202020204" pitchFamily="34" charset="0"/>
              </a:rPr>
              <a:t> ₹50/unit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Shipping Cost:</a:t>
            </a:r>
            <a:r>
              <a:rPr kumimoji="0" lang="en-US" altLang="en-US" sz="1800" b="0" i="0" u="none" strike="noStrike" cap="none" normalizeH="0" baseline="0" dirty="0">
                <a:ln>
                  <a:noFill/>
                </a:ln>
                <a:solidFill>
                  <a:schemeClr val="tx1"/>
                </a:solidFill>
                <a:effectLst/>
                <a:latin typeface="Arial" panose="020B0604020202020204" pitchFamily="34" charset="0"/>
              </a:rPr>
              <a:t> ₹5.55/unit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Defect Rate:</a:t>
            </a:r>
            <a:r>
              <a:rPr kumimoji="0" lang="en-US" altLang="en-US" sz="1800" b="0" i="0" u="none" strike="noStrike" cap="none" normalizeH="0" baseline="0" dirty="0">
                <a:ln>
                  <a:noFill/>
                </a:ln>
                <a:solidFill>
                  <a:schemeClr val="tx1"/>
                </a:solidFill>
                <a:effectLst/>
                <a:latin typeface="Arial" panose="020B0604020202020204" pitchFamily="34" charset="0"/>
              </a:rPr>
              <a:t> 2%</a:t>
            </a:r>
          </a:p>
        </p:txBody>
      </p:sp>
      <p:sp>
        <p:nvSpPr>
          <p:cNvPr id="6" name="TextBox 5">
            <a:extLst>
              <a:ext uri="{FF2B5EF4-FFF2-40B4-BE49-F238E27FC236}">
                <a16:creationId xmlns:a16="http://schemas.microsoft.com/office/drawing/2014/main" id="{A06A9AF5-8CBA-34EC-0745-3326ECC7BA12}"/>
              </a:ext>
            </a:extLst>
          </p:cNvPr>
          <p:cNvSpPr txBox="1"/>
          <p:nvPr/>
        </p:nvSpPr>
        <p:spPr>
          <a:xfrm>
            <a:off x="859771" y="3073062"/>
            <a:ext cx="1641890" cy="461665"/>
          </a:xfrm>
          <a:prstGeom prst="rect">
            <a:avLst/>
          </a:prstGeom>
          <a:noFill/>
        </p:spPr>
        <p:txBody>
          <a:bodyPr wrap="square" rtlCol="0">
            <a:spAutoFit/>
          </a:bodyPr>
          <a:lstStyle/>
          <a:p>
            <a:r>
              <a:rPr lang="en-US" sz="2400" b="1" u="sng" dirty="0">
                <a:solidFill>
                  <a:schemeClr val="accent5">
                    <a:lumMod val="75000"/>
                  </a:schemeClr>
                </a:solidFill>
              </a:rPr>
              <a:t>Insights</a:t>
            </a:r>
          </a:p>
        </p:txBody>
      </p:sp>
      <p:sp>
        <p:nvSpPr>
          <p:cNvPr id="8" name="TextBox 7">
            <a:extLst>
              <a:ext uri="{FF2B5EF4-FFF2-40B4-BE49-F238E27FC236}">
                <a16:creationId xmlns:a16="http://schemas.microsoft.com/office/drawing/2014/main" id="{211B51F0-0DDE-D8E9-EFF3-2F7CC1CCF88E}"/>
              </a:ext>
            </a:extLst>
          </p:cNvPr>
          <p:cNvSpPr txBox="1"/>
          <p:nvPr/>
        </p:nvSpPr>
        <p:spPr>
          <a:xfrm>
            <a:off x="750498" y="3950898"/>
            <a:ext cx="6832121" cy="2308324"/>
          </a:xfrm>
          <a:prstGeom prst="rect">
            <a:avLst/>
          </a:prstGeom>
          <a:noFill/>
        </p:spPr>
        <p:txBody>
          <a:bodyPr wrap="square">
            <a:spAutoFit/>
          </a:bodyPr>
          <a:lstStyle/>
          <a:p>
            <a:pPr>
              <a:buFont typeface="Arial" panose="020B0604020202020204" pitchFamily="34" charset="0"/>
              <a:buChar char="•"/>
            </a:pPr>
            <a:r>
              <a:rPr lang="en-US" dirty="0">
                <a:effectLst/>
              </a:rPr>
              <a:t>Supplier 2 leads production (~15K units).</a:t>
            </a:r>
          </a:p>
          <a:p>
            <a:endParaRPr lang="en-US" dirty="0"/>
          </a:p>
          <a:p>
            <a:pPr>
              <a:buFont typeface="Arial" panose="020B0604020202020204" pitchFamily="34" charset="0"/>
              <a:buChar char="•"/>
            </a:pPr>
            <a:r>
              <a:rPr lang="en-US" dirty="0">
                <a:effectLst/>
              </a:rPr>
              <a:t>Skincare category drives highest revenue (~0.2M).</a:t>
            </a:r>
          </a:p>
          <a:p>
            <a:endParaRPr lang="en-US" dirty="0"/>
          </a:p>
          <a:p>
            <a:pPr>
              <a:buFont typeface="Arial" panose="020B0604020202020204" pitchFamily="34" charset="0"/>
              <a:buChar char="•"/>
            </a:pPr>
            <a:r>
              <a:rPr lang="en-US" dirty="0">
                <a:effectLst/>
              </a:rPr>
              <a:t>Route A contributes 41% of total price → most efficient.</a:t>
            </a:r>
          </a:p>
          <a:p>
            <a:endParaRPr lang="en-US" dirty="0"/>
          </a:p>
          <a:p>
            <a:pPr>
              <a:buFont typeface="Arial" panose="020B0604020202020204" pitchFamily="34" charset="0"/>
              <a:buChar char="•"/>
            </a:pPr>
            <a:r>
              <a:rPr lang="en-US" dirty="0">
                <a:effectLst/>
              </a:rPr>
              <a:t>Balanced supply chain with low defect rate and stable lead times.</a:t>
            </a:r>
            <a:endParaRPr lang="en-US" dirty="0"/>
          </a:p>
        </p:txBody>
      </p:sp>
    </p:spTree>
    <p:extLst>
      <p:ext uri="{BB962C8B-B14F-4D97-AF65-F5344CB8AC3E}">
        <p14:creationId xmlns:p14="http://schemas.microsoft.com/office/powerpoint/2010/main" val="1517134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4AFC6B-DA52-1696-F332-704F0700A1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141" y="441616"/>
            <a:ext cx="8011543" cy="5243192"/>
          </a:xfrm>
          <a:prstGeom prst="rect">
            <a:avLst/>
          </a:prstGeom>
        </p:spPr>
      </p:pic>
    </p:spTree>
    <p:extLst>
      <p:ext uri="{BB962C8B-B14F-4D97-AF65-F5344CB8AC3E}">
        <p14:creationId xmlns:p14="http://schemas.microsoft.com/office/powerpoint/2010/main" val="160357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207D1D-578C-231A-3215-5403D31D147B}"/>
              </a:ext>
            </a:extLst>
          </p:cNvPr>
          <p:cNvSpPr txBox="1"/>
          <p:nvPr/>
        </p:nvSpPr>
        <p:spPr>
          <a:xfrm>
            <a:off x="491706" y="422694"/>
            <a:ext cx="2855343" cy="400110"/>
          </a:xfrm>
          <a:prstGeom prst="rect">
            <a:avLst/>
          </a:prstGeom>
          <a:noFill/>
        </p:spPr>
        <p:txBody>
          <a:bodyPr wrap="square" rtlCol="0">
            <a:spAutoFit/>
          </a:bodyPr>
          <a:lstStyle/>
          <a:p>
            <a:r>
              <a:rPr lang="en-US" sz="2000" b="1" u="sng" dirty="0">
                <a:solidFill>
                  <a:schemeClr val="accent2">
                    <a:lumMod val="60000"/>
                    <a:lumOff val="40000"/>
                  </a:schemeClr>
                </a:solidFill>
              </a:rPr>
              <a:t>KPIs (Quick Metrics)</a:t>
            </a:r>
          </a:p>
        </p:txBody>
      </p:sp>
      <p:sp>
        <p:nvSpPr>
          <p:cNvPr id="4" name="Rectangle 1">
            <a:extLst>
              <a:ext uri="{FF2B5EF4-FFF2-40B4-BE49-F238E27FC236}">
                <a16:creationId xmlns:a16="http://schemas.microsoft.com/office/drawing/2014/main" id="{D1E48635-4210-DE08-01EA-AAAE551D366B}"/>
              </a:ext>
            </a:extLst>
          </p:cNvPr>
          <p:cNvSpPr>
            <a:spLocks noChangeArrowheads="1"/>
          </p:cNvSpPr>
          <p:nvPr/>
        </p:nvSpPr>
        <p:spPr bwMode="auto">
          <a:xfrm>
            <a:off x="388190" y="1169252"/>
            <a:ext cx="431320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Total Revenue:</a:t>
            </a:r>
            <a:r>
              <a:rPr kumimoji="0" lang="en-US" altLang="en-US" sz="1800" b="0" i="0" u="none" strike="noStrike" cap="none" normalizeH="0" baseline="0" dirty="0">
                <a:ln>
                  <a:noFill/>
                </a:ln>
                <a:solidFill>
                  <a:schemeClr val="tx1"/>
                </a:solidFill>
                <a:effectLst/>
                <a:latin typeface="Arial" panose="020B0604020202020204" pitchFamily="34" charset="0"/>
              </a:rPr>
              <a:t> ₹577.60K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Avg. Shipping Cost:</a:t>
            </a:r>
            <a:r>
              <a:rPr kumimoji="0" lang="en-US" altLang="en-US" sz="1800" b="0" i="0" u="none" strike="noStrike" cap="none" normalizeH="0" baseline="0" dirty="0">
                <a:ln>
                  <a:noFill/>
                </a:ln>
                <a:solidFill>
                  <a:schemeClr val="tx1"/>
                </a:solidFill>
                <a:effectLst/>
                <a:latin typeface="Arial" panose="020B0604020202020204" pitchFamily="34" charset="0"/>
              </a:rPr>
              <a:t> ₹5.55 per 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Avg. Shipping Time:</a:t>
            </a:r>
            <a:r>
              <a:rPr kumimoji="0" lang="en-US" altLang="en-US" sz="1800" b="0" i="0" u="none" strike="noStrike" cap="none" normalizeH="0" baseline="0" dirty="0">
                <a:ln>
                  <a:noFill/>
                </a:ln>
                <a:solidFill>
                  <a:schemeClr val="tx1"/>
                </a:solidFill>
                <a:effectLst/>
                <a:latin typeface="Arial" panose="020B0604020202020204" pitchFamily="34" charset="0"/>
              </a:rPr>
              <a:t> 5.75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Stock Level:</a:t>
            </a:r>
            <a:r>
              <a:rPr kumimoji="0" lang="en-US" altLang="en-US" sz="1800" b="0" i="0" u="none" strike="noStrike" cap="none" normalizeH="0" baseline="0" dirty="0">
                <a:ln>
                  <a:noFill/>
                </a:ln>
                <a:solidFill>
                  <a:schemeClr val="tx1"/>
                </a:solidFill>
                <a:effectLst/>
                <a:latin typeface="Arial" panose="020B0604020202020204" pitchFamily="34" charset="0"/>
              </a:rPr>
              <a:t> 47.77 units</a:t>
            </a:r>
          </a:p>
        </p:txBody>
      </p:sp>
      <p:sp>
        <p:nvSpPr>
          <p:cNvPr id="6" name="TextBox 5">
            <a:extLst>
              <a:ext uri="{FF2B5EF4-FFF2-40B4-BE49-F238E27FC236}">
                <a16:creationId xmlns:a16="http://schemas.microsoft.com/office/drawing/2014/main" id="{1BFA972B-EB3F-72C6-EC52-42F053F8B4FC}"/>
              </a:ext>
            </a:extLst>
          </p:cNvPr>
          <p:cNvSpPr txBox="1"/>
          <p:nvPr/>
        </p:nvSpPr>
        <p:spPr>
          <a:xfrm>
            <a:off x="491706" y="2518913"/>
            <a:ext cx="3131388" cy="400110"/>
          </a:xfrm>
          <a:prstGeom prst="rect">
            <a:avLst/>
          </a:prstGeom>
          <a:noFill/>
        </p:spPr>
        <p:txBody>
          <a:bodyPr wrap="square" rtlCol="0">
            <a:spAutoFit/>
          </a:bodyPr>
          <a:lstStyle/>
          <a:p>
            <a:r>
              <a:rPr lang="en-US" sz="2000" b="1" u="sng" dirty="0">
                <a:solidFill>
                  <a:schemeClr val="accent1"/>
                </a:solidFill>
              </a:rPr>
              <a:t>Strategic Insights</a:t>
            </a:r>
          </a:p>
        </p:txBody>
      </p:sp>
      <p:sp>
        <p:nvSpPr>
          <p:cNvPr id="7" name="Rectangle 2">
            <a:extLst>
              <a:ext uri="{FF2B5EF4-FFF2-40B4-BE49-F238E27FC236}">
                <a16:creationId xmlns:a16="http://schemas.microsoft.com/office/drawing/2014/main" id="{B009D764-A453-06AB-C5ED-9EC6EBC8AB19}"/>
              </a:ext>
            </a:extLst>
          </p:cNvPr>
          <p:cNvSpPr>
            <a:spLocks noChangeArrowheads="1"/>
          </p:cNvSpPr>
          <p:nvPr/>
        </p:nvSpPr>
        <p:spPr bwMode="auto">
          <a:xfrm>
            <a:off x="491705" y="3065519"/>
            <a:ext cx="830723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Transportation Mode Efficiency:</a:t>
            </a:r>
            <a:r>
              <a:rPr kumimoji="0" lang="en-US" altLang="en-US" sz="1800" b="0" i="0" u="none" strike="noStrike" cap="none" normalizeH="0" baseline="0" dirty="0">
                <a:ln>
                  <a:noFill/>
                </a:ln>
                <a:solidFill>
                  <a:schemeClr val="tx1"/>
                </a:solidFill>
                <a:effectLst/>
                <a:latin typeface="Arial" panose="020B0604020202020204" pitchFamily="34" charset="0"/>
              </a:rPr>
              <a:t> Rail handles the highest volume (184 shipments) → most cost‑effective.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Route Cost Distribution:</a:t>
            </a:r>
            <a:r>
              <a:rPr kumimoji="0" lang="en-US" altLang="en-US" sz="1800" b="0" i="0" u="none" strike="noStrike" cap="none" normalizeH="0" baseline="0" dirty="0">
                <a:ln>
                  <a:noFill/>
                </a:ln>
                <a:solidFill>
                  <a:schemeClr val="tx1"/>
                </a:solidFill>
                <a:effectLst/>
                <a:latin typeface="Arial" panose="020B0604020202020204" pitchFamily="34" charset="0"/>
              </a:rPr>
              <a:t> Route C has the highest cost (35%) → potential for optimization.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Product Profitability:</a:t>
            </a:r>
            <a:r>
              <a:rPr kumimoji="0" lang="en-US" altLang="en-US" sz="1800" b="0" i="0" u="none" strike="noStrike" cap="none" normalizeH="0" baseline="0" dirty="0">
                <a:ln>
                  <a:noFill/>
                </a:ln>
                <a:solidFill>
                  <a:schemeClr val="tx1"/>
                </a:solidFill>
                <a:effectLst/>
                <a:latin typeface="Arial" panose="020B0604020202020204" pitchFamily="34" charset="0"/>
              </a:rPr>
              <a:t> Skincare leads with 38% of total revenue → strongest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Carrier Utilization:</a:t>
            </a:r>
            <a:r>
              <a:rPr kumimoji="0" lang="en-US" altLang="en-US" sz="1800" b="0" i="0" u="none" strike="noStrike" cap="none" normalizeH="0" baseline="0" dirty="0">
                <a:ln>
                  <a:noFill/>
                </a:ln>
                <a:solidFill>
                  <a:schemeClr val="tx1"/>
                </a:solidFill>
                <a:effectLst/>
                <a:latin typeface="Arial" panose="020B0604020202020204" pitchFamily="34" charset="0"/>
              </a:rPr>
              <a:t> Peak performance at mid‑range shipping times → balanced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Geographical Reach:</a:t>
            </a:r>
            <a:r>
              <a:rPr kumimoji="0" lang="en-US" altLang="en-US" sz="1800" b="0" i="0" u="none" strike="noStrike" cap="none" normalizeH="0" baseline="0" dirty="0">
                <a:ln>
                  <a:noFill/>
                </a:ln>
                <a:solidFill>
                  <a:schemeClr val="tx1"/>
                </a:solidFill>
                <a:effectLst/>
                <a:latin typeface="Arial" panose="020B0604020202020204" pitchFamily="34" charset="0"/>
              </a:rPr>
              <a:t> Routes cover major Indian cities → strong national distribution network.</a:t>
            </a:r>
          </a:p>
        </p:txBody>
      </p:sp>
    </p:spTree>
    <p:extLst>
      <p:ext uri="{BB962C8B-B14F-4D97-AF65-F5344CB8AC3E}">
        <p14:creationId xmlns:p14="http://schemas.microsoft.com/office/powerpoint/2010/main" val="3307973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E21732-6A0A-A490-459E-23EF21E28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286" y="287604"/>
            <a:ext cx="8614796" cy="5483467"/>
          </a:xfrm>
          <a:prstGeom prst="rect">
            <a:avLst/>
          </a:prstGeom>
        </p:spPr>
      </p:pic>
    </p:spTree>
    <p:extLst>
      <p:ext uri="{BB962C8B-B14F-4D97-AF65-F5344CB8AC3E}">
        <p14:creationId xmlns:p14="http://schemas.microsoft.com/office/powerpoint/2010/main" val="1226951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E921EB-13CB-4370-9342-04063A6C41A8}"/>
              </a:ext>
            </a:extLst>
          </p:cNvPr>
          <p:cNvSpPr txBox="1"/>
          <p:nvPr/>
        </p:nvSpPr>
        <p:spPr>
          <a:xfrm>
            <a:off x="465825" y="336431"/>
            <a:ext cx="4934310" cy="400110"/>
          </a:xfrm>
          <a:prstGeom prst="rect">
            <a:avLst/>
          </a:prstGeom>
          <a:noFill/>
        </p:spPr>
        <p:txBody>
          <a:bodyPr wrap="square" rtlCol="0">
            <a:spAutoFit/>
          </a:bodyPr>
          <a:lstStyle/>
          <a:p>
            <a:r>
              <a:rPr lang="en-US" sz="2000" b="1" u="sng" dirty="0">
                <a:solidFill>
                  <a:srgbClr val="0070C0"/>
                </a:solidFill>
              </a:rPr>
              <a:t>Key Performance Indicators (KPIs)</a:t>
            </a:r>
          </a:p>
        </p:txBody>
      </p:sp>
      <p:sp>
        <p:nvSpPr>
          <p:cNvPr id="4" name="Rectangle 1">
            <a:extLst>
              <a:ext uri="{FF2B5EF4-FFF2-40B4-BE49-F238E27FC236}">
                <a16:creationId xmlns:a16="http://schemas.microsoft.com/office/drawing/2014/main" id="{BA9EE3F2-5993-2DB9-6C56-623B7B47565B}"/>
              </a:ext>
            </a:extLst>
          </p:cNvPr>
          <p:cNvSpPr>
            <a:spLocks noChangeArrowheads="1"/>
          </p:cNvSpPr>
          <p:nvPr/>
        </p:nvSpPr>
        <p:spPr bwMode="auto">
          <a:xfrm>
            <a:off x="448573" y="986538"/>
            <a:ext cx="602986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Revenue:</a:t>
            </a:r>
            <a:r>
              <a:rPr kumimoji="0" lang="en-US" altLang="en-US" sz="1800" b="0" i="0" u="none" strike="noStrike" cap="none" normalizeH="0" baseline="0">
                <a:ln>
                  <a:noFill/>
                </a:ln>
                <a:solidFill>
                  <a:schemeClr val="tx1"/>
                </a:solidFill>
                <a:effectLst/>
                <a:latin typeface="Arial" panose="020B0604020202020204" pitchFamily="34" charset="0"/>
              </a:rPr>
              <a:t> ₹577.60K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Products Sold / Production:</a:t>
            </a:r>
            <a:r>
              <a:rPr kumimoji="0" lang="en-US" altLang="en-US" sz="1800" b="0" i="0" u="none" strike="noStrike" cap="none" normalizeH="0" baseline="0">
                <a:ln>
                  <a:noFill/>
                </a:ln>
                <a:solidFill>
                  <a:schemeClr val="tx1"/>
                </a:solidFill>
                <a:effectLst/>
                <a:latin typeface="Arial" panose="020B0604020202020204" pitchFamily="34" charset="0"/>
              </a:rPr>
              <a:t> 46K–57K units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Avg. Manufacturing Cost:</a:t>
            </a:r>
            <a:r>
              <a:rPr kumimoji="0" lang="en-US" altLang="en-US" sz="1800" b="0" i="0" u="none" strike="noStrike" cap="none" normalizeH="0" baseline="0">
                <a:ln>
                  <a:noFill/>
                </a:ln>
                <a:solidFill>
                  <a:schemeClr val="tx1"/>
                </a:solidFill>
                <a:effectLst/>
                <a:latin typeface="Arial" panose="020B0604020202020204" pitchFamily="34" charset="0"/>
              </a:rPr>
              <a:t> ₹50 per 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Avg. Shipping Cost:</a:t>
            </a:r>
            <a:r>
              <a:rPr kumimoji="0" lang="en-US" altLang="en-US" sz="1800" b="0" i="0" u="none" strike="noStrike" cap="none" normalizeH="0" baseline="0">
                <a:ln>
                  <a:noFill/>
                </a:ln>
                <a:solidFill>
                  <a:schemeClr val="tx1"/>
                </a:solidFill>
                <a:effectLst/>
                <a:latin typeface="Arial" panose="020B0604020202020204" pitchFamily="34" charset="0"/>
              </a:rPr>
              <a:t> ₹5.55 per 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Avg. Lead Time / Shipping Time:</a:t>
            </a:r>
            <a:r>
              <a:rPr kumimoji="0" lang="en-US" altLang="en-US" sz="1800" b="0" i="0" u="none" strike="noStrike" cap="none" normalizeH="0" baseline="0">
                <a:ln>
                  <a:noFill/>
                </a:ln>
                <a:solidFill>
                  <a:schemeClr val="tx1"/>
                </a:solidFill>
                <a:effectLst/>
                <a:latin typeface="Arial" panose="020B0604020202020204" pitchFamily="34" charset="0"/>
              </a:rPr>
              <a:t> ~5–6 day</a:t>
            </a:r>
          </a:p>
        </p:txBody>
      </p:sp>
      <p:sp>
        <p:nvSpPr>
          <p:cNvPr id="6" name="TextBox 5">
            <a:extLst>
              <a:ext uri="{FF2B5EF4-FFF2-40B4-BE49-F238E27FC236}">
                <a16:creationId xmlns:a16="http://schemas.microsoft.com/office/drawing/2014/main" id="{E75CA3C1-97B3-2DD4-8ACC-1DCCC704BF55}"/>
              </a:ext>
            </a:extLst>
          </p:cNvPr>
          <p:cNvSpPr txBox="1"/>
          <p:nvPr/>
        </p:nvSpPr>
        <p:spPr>
          <a:xfrm>
            <a:off x="577971" y="2829465"/>
            <a:ext cx="3045124" cy="461665"/>
          </a:xfrm>
          <a:prstGeom prst="rect">
            <a:avLst/>
          </a:prstGeom>
          <a:noFill/>
        </p:spPr>
        <p:txBody>
          <a:bodyPr wrap="square" rtlCol="0">
            <a:spAutoFit/>
          </a:bodyPr>
          <a:lstStyle/>
          <a:p>
            <a:r>
              <a:rPr lang="en-US" sz="2400" b="1" u="sng" dirty="0">
                <a:solidFill>
                  <a:srgbClr val="0070C0"/>
                </a:solidFill>
              </a:rPr>
              <a:t>Strategic Insights</a:t>
            </a:r>
          </a:p>
        </p:txBody>
      </p:sp>
      <p:sp>
        <p:nvSpPr>
          <p:cNvPr id="7" name="Rectangle 2">
            <a:extLst>
              <a:ext uri="{FF2B5EF4-FFF2-40B4-BE49-F238E27FC236}">
                <a16:creationId xmlns:a16="http://schemas.microsoft.com/office/drawing/2014/main" id="{7E86B2F1-8445-24A3-B25D-772F7E41A6D1}"/>
              </a:ext>
            </a:extLst>
          </p:cNvPr>
          <p:cNvSpPr>
            <a:spLocks noChangeArrowheads="1"/>
          </p:cNvSpPr>
          <p:nvPr/>
        </p:nvSpPr>
        <p:spPr bwMode="auto">
          <a:xfrm>
            <a:off x="448572" y="3826835"/>
            <a:ext cx="878169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Supplier Performance:</a:t>
            </a:r>
            <a:r>
              <a:rPr kumimoji="0" lang="en-US" altLang="en-US" sz="1800" b="0" i="0" u="none" strike="noStrike" cap="none" normalizeH="0" baseline="0" dirty="0">
                <a:ln>
                  <a:noFill/>
                </a:ln>
                <a:solidFill>
                  <a:schemeClr val="tx1"/>
                </a:solidFill>
                <a:effectLst/>
                <a:latin typeface="Arial" panose="020B0604020202020204" pitchFamily="34" charset="0"/>
              </a:rPr>
              <a:t> Supplier 2 &amp; Supplier 1 lead production (~15K units each).</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Route Efficiency:</a:t>
            </a:r>
            <a:r>
              <a:rPr kumimoji="0" lang="en-US" altLang="en-US" sz="1800" b="0" i="0" u="none" strike="noStrike" cap="none" normalizeH="0" baseline="0" dirty="0">
                <a:ln>
                  <a:noFill/>
                </a:ln>
                <a:solidFill>
                  <a:schemeClr val="tx1"/>
                </a:solidFill>
                <a:effectLst/>
                <a:latin typeface="Arial" panose="020B0604020202020204" pitchFamily="34" charset="0"/>
              </a:rPr>
              <a:t> Route A generates highest revenue (43–44%) → most profitable.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Transportation Modes:</a:t>
            </a:r>
            <a:r>
              <a:rPr kumimoji="0" lang="en-US" altLang="en-US" sz="1800" b="0" i="0" u="none" strike="noStrike" cap="none" normalizeH="0" baseline="0" dirty="0">
                <a:ln>
                  <a:noFill/>
                </a:ln>
                <a:solidFill>
                  <a:schemeClr val="tx1"/>
                </a:solidFill>
                <a:effectLst/>
                <a:latin typeface="Arial" panose="020B0604020202020204" pitchFamily="34" charset="0"/>
              </a:rPr>
              <a:t> Rail handles maximum shipments (184) → cost‑effective.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Product Profitability:</a:t>
            </a:r>
            <a:r>
              <a:rPr kumimoji="0" lang="en-US" altLang="en-US" sz="1800" b="0" i="0" u="none" strike="noStrike" cap="none" normalizeH="0" baseline="0" dirty="0">
                <a:ln>
                  <a:noFill/>
                </a:ln>
                <a:solidFill>
                  <a:schemeClr val="tx1"/>
                </a:solidFill>
                <a:effectLst/>
                <a:latin typeface="Arial" panose="020B0604020202020204" pitchFamily="34" charset="0"/>
              </a:rPr>
              <a:t> Skincare contributes the largest revenue share (~38%).</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Stock Levels:</a:t>
            </a:r>
            <a:r>
              <a:rPr kumimoji="0" lang="en-US" altLang="en-US" sz="1800" b="0" i="0" u="none" strike="noStrike" cap="none" normalizeH="0" baseline="0" dirty="0">
                <a:ln>
                  <a:noFill/>
                </a:ln>
                <a:solidFill>
                  <a:schemeClr val="tx1"/>
                </a:solidFill>
                <a:effectLst/>
                <a:latin typeface="Arial" panose="020B0604020202020204" pitchFamily="34" charset="0"/>
              </a:rPr>
              <a:t> Fluctuations across lead times → need for scheduling optimization.</a:t>
            </a:r>
          </a:p>
        </p:txBody>
      </p:sp>
    </p:spTree>
    <p:extLst>
      <p:ext uri="{BB962C8B-B14F-4D97-AF65-F5344CB8AC3E}">
        <p14:creationId xmlns:p14="http://schemas.microsoft.com/office/powerpoint/2010/main" val="3337444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94AF54-EE55-EC14-0BAD-8025FFB02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090" y="288925"/>
            <a:ext cx="8696635" cy="5516578"/>
          </a:xfrm>
          <a:prstGeom prst="rect">
            <a:avLst/>
          </a:prstGeom>
        </p:spPr>
      </p:pic>
    </p:spTree>
    <p:extLst>
      <p:ext uri="{BB962C8B-B14F-4D97-AF65-F5344CB8AC3E}">
        <p14:creationId xmlns:p14="http://schemas.microsoft.com/office/powerpoint/2010/main" val="530276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F6560D-A44B-60BC-5EE0-3709A6874640}"/>
              </a:ext>
            </a:extLst>
          </p:cNvPr>
          <p:cNvSpPr txBox="1"/>
          <p:nvPr/>
        </p:nvSpPr>
        <p:spPr>
          <a:xfrm>
            <a:off x="396816" y="293299"/>
            <a:ext cx="4295954" cy="461665"/>
          </a:xfrm>
          <a:prstGeom prst="rect">
            <a:avLst/>
          </a:prstGeom>
          <a:noFill/>
        </p:spPr>
        <p:txBody>
          <a:bodyPr wrap="square" rtlCol="0">
            <a:spAutoFit/>
          </a:bodyPr>
          <a:lstStyle/>
          <a:p>
            <a:r>
              <a:rPr lang="en-US" sz="2400" b="1" u="sng" dirty="0">
                <a:solidFill>
                  <a:srgbClr val="7030A0"/>
                </a:solidFill>
              </a:rPr>
              <a:t>Key KPIs</a:t>
            </a:r>
          </a:p>
        </p:txBody>
      </p:sp>
      <p:sp>
        <p:nvSpPr>
          <p:cNvPr id="4" name="Rectangle 1">
            <a:extLst>
              <a:ext uri="{FF2B5EF4-FFF2-40B4-BE49-F238E27FC236}">
                <a16:creationId xmlns:a16="http://schemas.microsoft.com/office/drawing/2014/main" id="{2AAE4B11-F7E5-A1A0-FF4D-852C5409FC48}"/>
              </a:ext>
            </a:extLst>
          </p:cNvPr>
          <p:cNvSpPr>
            <a:spLocks noChangeArrowheads="1"/>
          </p:cNvSpPr>
          <p:nvPr/>
        </p:nvSpPr>
        <p:spPr bwMode="auto">
          <a:xfrm>
            <a:off x="396816" y="965053"/>
            <a:ext cx="414067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Average Defect Rate:</a:t>
            </a:r>
            <a:r>
              <a:rPr kumimoji="0" lang="en-US" altLang="en-US" sz="1800" b="0" i="0" u="none" strike="noStrike" cap="none" normalizeH="0" baseline="0" dirty="0">
                <a:ln>
                  <a:noFill/>
                </a:ln>
                <a:solidFill>
                  <a:schemeClr val="tx1"/>
                </a:solidFill>
                <a:effectLst/>
                <a:latin typeface="Arial" panose="020B0604020202020204" pitchFamily="34" charset="0"/>
              </a:rPr>
              <a:t> 2%</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Average Lead Time:</a:t>
            </a:r>
            <a:r>
              <a:rPr kumimoji="0" lang="en-US" altLang="en-US" sz="1800" b="0" i="0" u="none" strike="noStrike" cap="none" normalizeH="0" baseline="0" dirty="0">
                <a:ln>
                  <a:noFill/>
                </a:ln>
                <a:solidFill>
                  <a:schemeClr val="tx1"/>
                </a:solidFill>
                <a:effectLst/>
                <a:latin typeface="Arial" panose="020B0604020202020204" pitchFamily="34" charset="0"/>
              </a:rPr>
              <a:t> 5.33 days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Average Cost per Unit:</a:t>
            </a:r>
            <a:r>
              <a:rPr kumimoji="0" lang="en-US" altLang="en-US" sz="1800" b="0" i="0" u="none" strike="noStrike" cap="none" normalizeH="0" baseline="0" dirty="0">
                <a:ln>
                  <a:noFill/>
                </a:ln>
                <a:solidFill>
                  <a:schemeClr val="tx1"/>
                </a:solidFill>
                <a:effectLst/>
                <a:latin typeface="Arial" panose="020B0604020202020204" pitchFamily="34" charset="0"/>
              </a:rPr>
              <a:t> ₹50</a:t>
            </a:r>
          </a:p>
        </p:txBody>
      </p:sp>
      <p:sp>
        <p:nvSpPr>
          <p:cNvPr id="6" name="TextBox 5">
            <a:extLst>
              <a:ext uri="{FF2B5EF4-FFF2-40B4-BE49-F238E27FC236}">
                <a16:creationId xmlns:a16="http://schemas.microsoft.com/office/drawing/2014/main" id="{5D6AFE87-EB48-B5DE-B5F8-79234CA0125B}"/>
              </a:ext>
            </a:extLst>
          </p:cNvPr>
          <p:cNvSpPr txBox="1"/>
          <p:nvPr/>
        </p:nvSpPr>
        <p:spPr>
          <a:xfrm>
            <a:off x="276045" y="2652470"/>
            <a:ext cx="5529532" cy="461665"/>
          </a:xfrm>
          <a:prstGeom prst="rect">
            <a:avLst/>
          </a:prstGeom>
          <a:noFill/>
        </p:spPr>
        <p:txBody>
          <a:bodyPr wrap="square" rtlCol="0">
            <a:spAutoFit/>
          </a:bodyPr>
          <a:lstStyle/>
          <a:p>
            <a:r>
              <a:rPr lang="en-US" sz="2400" b="1" dirty="0">
                <a:solidFill>
                  <a:srgbClr val="7030A0"/>
                </a:solidFill>
              </a:rPr>
              <a:t>💡</a:t>
            </a:r>
            <a:r>
              <a:rPr lang="en-US" sz="2400" b="1" u="sng" dirty="0">
                <a:solidFill>
                  <a:srgbClr val="7030A0"/>
                </a:solidFill>
              </a:rPr>
              <a:t> Insights</a:t>
            </a:r>
          </a:p>
        </p:txBody>
      </p:sp>
      <p:sp>
        <p:nvSpPr>
          <p:cNvPr id="8" name="TextBox 7">
            <a:extLst>
              <a:ext uri="{FF2B5EF4-FFF2-40B4-BE49-F238E27FC236}">
                <a16:creationId xmlns:a16="http://schemas.microsoft.com/office/drawing/2014/main" id="{7711E2A7-5B61-F240-11C3-F059251B2638}"/>
              </a:ext>
            </a:extLst>
          </p:cNvPr>
          <p:cNvSpPr txBox="1"/>
          <p:nvPr/>
        </p:nvSpPr>
        <p:spPr>
          <a:xfrm>
            <a:off x="500332" y="3260786"/>
            <a:ext cx="8738559" cy="3416320"/>
          </a:xfrm>
          <a:prstGeom prst="rect">
            <a:avLst/>
          </a:prstGeom>
          <a:noFill/>
        </p:spPr>
        <p:txBody>
          <a:bodyPr wrap="square">
            <a:spAutoFit/>
          </a:bodyPr>
          <a:lstStyle/>
          <a:p>
            <a:pPr>
              <a:buFont typeface="Arial" panose="020B0604020202020204" pitchFamily="34" charset="0"/>
              <a:buChar char="•"/>
            </a:pPr>
            <a:r>
              <a:rPr lang="en-US" dirty="0">
                <a:effectLst/>
              </a:rPr>
              <a:t>Supplier 1 has the highest manufacturing cost (₹1,222) → premium production quality.</a:t>
            </a:r>
          </a:p>
          <a:p>
            <a:endParaRPr lang="en-US" dirty="0"/>
          </a:p>
          <a:p>
            <a:pPr>
              <a:buFont typeface="Arial" panose="020B0604020202020204" pitchFamily="34" charset="0"/>
              <a:buChar char="•"/>
            </a:pPr>
            <a:r>
              <a:rPr lang="en-US" dirty="0">
                <a:effectLst/>
              </a:rPr>
              <a:t>Rail mode generates the highest revenue (₹165K) → most efficient transportation.</a:t>
            </a:r>
          </a:p>
          <a:p>
            <a:endParaRPr lang="en-US" dirty="0"/>
          </a:p>
          <a:p>
            <a:pPr>
              <a:buFont typeface="Arial" panose="020B0604020202020204" pitchFamily="34" charset="0"/>
              <a:buChar char="•"/>
            </a:pPr>
            <a:r>
              <a:rPr lang="en-US" dirty="0">
                <a:effectLst/>
              </a:rPr>
              <a:t>Route A handles the largest share of products (43%) → key distribution channel.</a:t>
            </a:r>
          </a:p>
          <a:p>
            <a:endParaRPr lang="en-US" dirty="0"/>
          </a:p>
          <a:p>
            <a:pPr>
              <a:buFont typeface="Arial" panose="020B0604020202020204" pitchFamily="34" charset="0"/>
              <a:buChar char="•"/>
            </a:pPr>
            <a:r>
              <a:rPr lang="en-US" dirty="0">
                <a:effectLst/>
              </a:rPr>
              <a:t>Supplier 1 contributes the highest total price (₹1,599.12) → top‑performing supplier.</a:t>
            </a:r>
          </a:p>
          <a:p>
            <a:endParaRPr lang="en-US" dirty="0"/>
          </a:p>
          <a:p>
            <a:pPr>
              <a:buFont typeface="Arial" panose="020B0604020202020204" pitchFamily="34" charset="0"/>
              <a:buChar char="•"/>
            </a:pPr>
            <a:r>
              <a:rPr lang="en-US" dirty="0">
                <a:effectLst/>
              </a:rPr>
              <a:t>Sea transport shows lowest revenue (₹98K) → potential area for improvement.</a:t>
            </a:r>
            <a:endParaRPr lang="en-US" dirty="0"/>
          </a:p>
        </p:txBody>
      </p:sp>
    </p:spTree>
    <p:extLst>
      <p:ext uri="{BB962C8B-B14F-4D97-AF65-F5344CB8AC3E}">
        <p14:creationId xmlns:p14="http://schemas.microsoft.com/office/powerpoint/2010/main" val="3346894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E036C-379B-18C2-B562-3C42B75B4CC4}"/>
              </a:ext>
            </a:extLst>
          </p:cNvPr>
          <p:cNvSpPr>
            <a:spLocks noGrp="1"/>
          </p:cNvSpPr>
          <p:nvPr>
            <p:ph type="title"/>
          </p:nvPr>
        </p:nvSpPr>
        <p:spPr>
          <a:xfrm>
            <a:off x="677334" y="609600"/>
            <a:ext cx="8596668" cy="684362"/>
          </a:xfrm>
        </p:spPr>
        <p:txBody>
          <a:bodyPr>
            <a:normAutofit/>
          </a:bodyPr>
          <a:lstStyle/>
          <a:p>
            <a:r>
              <a:rPr lang="en-US" sz="3200" u="sng" dirty="0">
                <a:solidFill>
                  <a:srgbClr val="002060"/>
                </a:solidFill>
              </a:rPr>
              <a:t>Recommendations</a:t>
            </a:r>
          </a:p>
        </p:txBody>
      </p:sp>
      <p:sp>
        <p:nvSpPr>
          <p:cNvPr id="4" name="Rectangle 1">
            <a:extLst>
              <a:ext uri="{FF2B5EF4-FFF2-40B4-BE49-F238E27FC236}">
                <a16:creationId xmlns:a16="http://schemas.microsoft.com/office/drawing/2014/main" id="{A288D554-19D3-D248-9A92-075A013CB16C}"/>
              </a:ext>
            </a:extLst>
          </p:cNvPr>
          <p:cNvSpPr>
            <a:spLocks noGrp="1" noChangeArrowheads="1"/>
          </p:cNvSpPr>
          <p:nvPr>
            <p:ph idx="1"/>
          </p:nvPr>
        </p:nvSpPr>
        <p:spPr bwMode="auto">
          <a:xfrm>
            <a:off x="569343" y="1627545"/>
            <a:ext cx="772064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Optimize Route C</a:t>
            </a:r>
            <a:r>
              <a:rPr kumimoji="0" lang="en-US" altLang="en-US" sz="1800" b="0" i="0" u="none" strike="noStrike" cap="none" normalizeH="0" baseline="0" dirty="0">
                <a:ln>
                  <a:noFill/>
                </a:ln>
                <a:solidFill>
                  <a:schemeClr val="tx1"/>
                </a:solidFill>
                <a:effectLst/>
                <a:latin typeface="Arial" panose="020B0604020202020204" pitchFamily="34" charset="0"/>
              </a:rPr>
              <a:t> → Reduce high logistics costs.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Scale Rail Transport</a:t>
            </a:r>
            <a:r>
              <a:rPr kumimoji="0" lang="en-US" altLang="en-US" sz="1800" b="0" i="0" u="none" strike="noStrike" cap="none" normalizeH="0" baseline="0" dirty="0">
                <a:ln>
                  <a:noFill/>
                </a:ln>
                <a:solidFill>
                  <a:schemeClr val="tx1"/>
                </a:solidFill>
                <a:effectLst/>
                <a:latin typeface="Arial" panose="020B0604020202020204" pitchFamily="34" charset="0"/>
              </a:rPr>
              <a:t> → Most efficient &amp; profitable mode.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Prioritize Skincare Products</a:t>
            </a:r>
            <a:r>
              <a:rPr kumimoji="0" lang="en-US" altLang="en-US" sz="1800" b="0" i="0" u="none" strike="noStrike" cap="none" normalizeH="0" baseline="0" dirty="0">
                <a:ln>
                  <a:noFill/>
                </a:ln>
                <a:solidFill>
                  <a:schemeClr val="tx1"/>
                </a:solidFill>
                <a:effectLst/>
                <a:latin typeface="Arial" panose="020B0604020202020204" pitchFamily="34" charset="0"/>
              </a:rPr>
              <a:t> → Strongest revenue driver.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Strengthen Supplier Partnerships</a:t>
            </a:r>
            <a:r>
              <a:rPr kumimoji="0" lang="en-US" altLang="en-US" sz="1800" b="0" i="0" u="none" strike="noStrike" cap="none" normalizeH="0" baseline="0" dirty="0">
                <a:ln>
                  <a:noFill/>
                </a:ln>
                <a:solidFill>
                  <a:schemeClr val="tx1"/>
                </a:solidFill>
                <a:effectLst/>
                <a:latin typeface="Arial" panose="020B0604020202020204" pitchFamily="34" charset="0"/>
              </a:rPr>
              <a:t> → Focus on Supplier 1 &amp; 2.</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Standardize Lead Times</a:t>
            </a:r>
            <a:r>
              <a:rPr kumimoji="0" lang="en-US" altLang="en-US" sz="1800" b="0" i="0" u="none" strike="noStrike" cap="none" normalizeH="0" baseline="0" dirty="0">
                <a:ln>
                  <a:noFill/>
                </a:ln>
                <a:solidFill>
                  <a:schemeClr val="tx1"/>
                </a:solidFill>
                <a:effectLst/>
                <a:latin typeface="Arial" panose="020B0604020202020204" pitchFamily="34" charset="0"/>
              </a:rPr>
              <a:t> → Minimize variability in stock &amp; shipping.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Maintain Quality Control</a:t>
            </a:r>
            <a:r>
              <a:rPr kumimoji="0" lang="en-US" altLang="en-US" sz="1800" b="0" i="0" u="none" strike="noStrike" cap="none" normalizeH="0" baseline="0" dirty="0">
                <a:ln>
                  <a:noFill/>
                </a:ln>
                <a:solidFill>
                  <a:schemeClr val="tx1"/>
                </a:solidFill>
                <a:effectLst/>
                <a:latin typeface="Arial" panose="020B0604020202020204" pitchFamily="34" charset="0"/>
              </a:rPr>
              <a:t> → Keep defect rate at 2%.</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Ensure Regional Balance</a:t>
            </a:r>
            <a:r>
              <a:rPr kumimoji="0" lang="en-US" altLang="en-US" sz="1800" b="0" i="0" u="none" strike="noStrike" cap="none" normalizeH="0" baseline="0" dirty="0">
                <a:ln>
                  <a:noFill/>
                </a:ln>
                <a:solidFill>
                  <a:schemeClr val="tx1"/>
                </a:solidFill>
                <a:effectLst/>
                <a:latin typeface="Arial" panose="020B0604020202020204" pitchFamily="34" charset="0"/>
              </a:rPr>
              <a:t> → Continue equal distribution across cities</a:t>
            </a:r>
          </a:p>
        </p:txBody>
      </p:sp>
    </p:spTree>
    <p:extLst>
      <p:ext uri="{BB962C8B-B14F-4D97-AF65-F5344CB8AC3E}">
        <p14:creationId xmlns:p14="http://schemas.microsoft.com/office/powerpoint/2010/main" val="811104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CEF2-DC6B-94CA-43D1-67EEE10202E4}"/>
              </a:ext>
            </a:extLst>
          </p:cNvPr>
          <p:cNvSpPr>
            <a:spLocks noGrp="1"/>
          </p:cNvSpPr>
          <p:nvPr>
            <p:ph type="title"/>
          </p:nvPr>
        </p:nvSpPr>
        <p:spPr>
          <a:xfrm>
            <a:off x="677334" y="609600"/>
            <a:ext cx="8596668" cy="736121"/>
          </a:xfrm>
        </p:spPr>
        <p:txBody>
          <a:bodyPr>
            <a:normAutofit/>
          </a:bodyPr>
          <a:lstStyle/>
          <a:p>
            <a:r>
              <a:rPr lang="en-US" sz="3200" b="1" u="sng" dirty="0">
                <a:solidFill>
                  <a:srgbClr val="002060"/>
                </a:solidFill>
              </a:rPr>
              <a:t>Conclusion</a:t>
            </a:r>
          </a:p>
        </p:txBody>
      </p:sp>
      <p:sp>
        <p:nvSpPr>
          <p:cNvPr id="3" name="Content Placeholder 2">
            <a:extLst>
              <a:ext uri="{FF2B5EF4-FFF2-40B4-BE49-F238E27FC236}">
                <a16:creationId xmlns:a16="http://schemas.microsoft.com/office/drawing/2014/main" id="{CBFCAF88-F1F4-267D-8582-DABCCF2AA252}"/>
              </a:ext>
            </a:extLst>
          </p:cNvPr>
          <p:cNvSpPr>
            <a:spLocks noGrp="1"/>
          </p:cNvSpPr>
          <p:nvPr>
            <p:ph idx="1"/>
          </p:nvPr>
        </p:nvSpPr>
        <p:spPr>
          <a:xfrm>
            <a:off x="577970" y="1526875"/>
            <a:ext cx="7634377" cy="3148643"/>
          </a:xfrm>
        </p:spPr>
        <p:txBody>
          <a:bodyPr/>
          <a:lstStyle/>
          <a:p>
            <a:r>
              <a:rPr lang="en-US" dirty="0"/>
              <a:t>This project demonstrates how integrated dashboards for supply chain, logistics, manufacturing, and supplier performance provide a clear, data‑driven view of operations. By tracking key KPIs and analyzing insights across all areas, the organization can optimize costs, improve efficiency, strengthen supplier collaboration, and focus on profitable product lines. Overall, the dashboards enable smarter decision‑making and position the supply chain for sustainable growth and scalability</a:t>
            </a:r>
          </a:p>
        </p:txBody>
      </p:sp>
    </p:spTree>
    <p:extLst>
      <p:ext uri="{BB962C8B-B14F-4D97-AF65-F5344CB8AC3E}">
        <p14:creationId xmlns:p14="http://schemas.microsoft.com/office/powerpoint/2010/main" val="743518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2CBD87-F290-FDCE-BFB4-4370546FA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101" y="368539"/>
            <a:ext cx="7988060" cy="5325374"/>
          </a:xfrm>
          <a:prstGeom prst="rect">
            <a:avLst/>
          </a:prstGeom>
        </p:spPr>
      </p:pic>
    </p:spTree>
    <p:extLst>
      <p:ext uri="{BB962C8B-B14F-4D97-AF65-F5344CB8AC3E}">
        <p14:creationId xmlns:p14="http://schemas.microsoft.com/office/powerpoint/2010/main" val="33053964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TM02900688[[fn=Facet]]</Template>
  <TotalTime>122</TotalTime>
  <Words>951</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Trebuchet MS</vt:lpstr>
      <vt:lpstr>Wingdings 3</vt:lpstr>
      <vt:lpstr>Facet</vt:lpstr>
      <vt:lpstr>Supply Chain Performance Analysis</vt:lpstr>
      <vt:lpstr>Project Overview</vt:lpstr>
      <vt:lpstr>Objectives Of Project </vt:lpstr>
      <vt:lpstr>PowerPoint Presentation</vt:lpstr>
      <vt:lpstr>About Dataset </vt:lpstr>
      <vt:lpstr>Tools and Technologies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 reddy</dc:creator>
  <cp:lastModifiedBy>krish reddy</cp:lastModifiedBy>
  <cp:revision>1</cp:revision>
  <dcterms:created xsi:type="dcterms:W3CDTF">2026-06-17T05:14:42Z</dcterms:created>
  <dcterms:modified xsi:type="dcterms:W3CDTF">2026-06-17T07:16:59Z</dcterms:modified>
</cp:coreProperties>
</file>